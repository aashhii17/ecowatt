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9" r:id="rId9"/>
    <p:sldId id="268" r:id="rId10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96"/>
    <a:srgbClr val="A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89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d8b05689a64ef4f3" providerId="LiveId" clId="{ED28670F-DB99-442E-A3A2-63168DE39D3A}"/>
    <pc:docChg chg="addSld delSld modSld sldOrd">
      <pc:chgData name="" userId="d8b05689a64ef4f3" providerId="LiveId" clId="{ED28670F-DB99-442E-A3A2-63168DE39D3A}" dt="2025-05-28T06:01:51.605" v="33" actId="255"/>
      <pc:docMkLst>
        <pc:docMk/>
      </pc:docMkLst>
      <pc:sldChg chg="modSp">
        <pc:chgData name="" userId="d8b05689a64ef4f3" providerId="LiveId" clId="{ED28670F-DB99-442E-A3A2-63168DE39D3A}" dt="2025-05-28T05:15:47.399" v="3" actId="20577"/>
        <pc:sldMkLst>
          <pc:docMk/>
          <pc:sldMk cId="3219265273" sldId="261"/>
        </pc:sldMkLst>
        <pc:spChg chg="mod">
          <ac:chgData name="" userId="d8b05689a64ef4f3" providerId="LiveId" clId="{ED28670F-DB99-442E-A3A2-63168DE39D3A}" dt="2025-05-28T05:15:47.399" v="3" actId="20577"/>
          <ac:spMkLst>
            <pc:docMk/>
            <pc:sldMk cId="3219265273" sldId="261"/>
            <ac:spMk id="3" creationId="{F3DC736E-2FAD-45FB-A329-CC746DFC6B69}"/>
          </ac:spMkLst>
        </pc:spChg>
      </pc:sldChg>
      <pc:sldChg chg="modSp">
        <pc:chgData name="" userId="d8b05689a64ef4f3" providerId="LiveId" clId="{ED28670F-DB99-442E-A3A2-63168DE39D3A}" dt="2025-05-28T06:01:51.605" v="33" actId="255"/>
        <pc:sldMkLst>
          <pc:docMk/>
          <pc:sldMk cId="1232297038" sldId="268"/>
        </pc:sldMkLst>
        <pc:spChg chg="mod">
          <ac:chgData name="" userId="d8b05689a64ef4f3" providerId="LiveId" clId="{ED28670F-DB99-442E-A3A2-63168DE39D3A}" dt="2025-05-28T06:01:51.605" v="33" actId="255"/>
          <ac:spMkLst>
            <pc:docMk/>
            <pc:sldMk cId="1232297038" sldId="268"/>
            <ac:spMk id="3" creationId="{EE2B5D18-76D2-4CB8-9427-8131DE617252}"/>
          </ac:spMkLst>
        </pc:spChg>
      </pc:sldChg>
      <pc:sldChg chg="modSp add ord">
        <pc:chgData name="" userId="d8b05689a64ef4f3" providerId="LiveId" clId="{ED28670F-DB99-442E-A3A2-63168DE39D3A}" dt="2025-05-28T06:01:39.916" v="31" actId="255"/>
        <pc:sldMkLst>
          <pc:docMk/>
          <pc:sldMk cId="304314167" sldId="269"/>
        </pc:sldMkLst>
        <pc:spChg chg="mod">
          <ac:chgData name="" userId="d8b05689a64ef4f3" providerId="LiveId" clId="{ED28670F-DB99-442E-A3A2-63168DE39D3A}" dt="2025-05-28T06:01:39.916" v="31" actId="255"/>
          <ac:spMkLst>
            <pc:docMk/>
            <pc:sldMk cId="304314167" sldId="269"/>
            <ac:spMk id="3" creationId="{F3368BB5-4F2E-49D0-9891-AD044C89413E}"/>
          </ac:spMkLst>
        </pc:spChg>
      </pc:sldChg>
      <pc:sldChg chg="add del">
        <pc:chgData name="" userId="d8b05689a64ef4f3" providerId="LiveId" clId="{ED28670F-DB99-442E-A3A2-63168DE39D3A}" dt="2025-05-28T05:55:07.174" v="25" actId="2696"/>
        <pc:sldMkLst>
          <pc:docMk/>
          <pc:sldMk cId="3994670400" sldId="26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Electricity</a:t>
            </a:r>
            <a:r>
              <a:rPr lang="en-US" baseline="0" dirty="0"/>
              <a:t> Consumption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60-4F64-84D6-C0FE6ABBAE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60-4F64-84D6-C0FE6ABBAE0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60-4F64-84D6-C0FE6ABBAE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35692720"/>
        <c:axId val="2064498752"/>
      </c:barChart>
      <c:catAx>
        <c:axId val="153569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4498752"/>
        <c:crosses val="autoZero"/>
        <c:auto val="1"/>
        <c:lblAlgn val="ctr"/>
        <c:lblOffset val="100"/>
        <c:noMultiLvlLbl val="0"/>
      </c:catAx>
      <c:valAx>
        <c:axId val="2064498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692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40F586-CD96-433F-BB3F-81087A8B4F78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91F173-1B4D-444C-9865-67CD25ED4924}">
      <dgm:prSet phldrT="[Text]"/>
      <dgm:spPr/>
      <dgm:t>
        <a:bodyPr/>
        <a:lstStyle/>
        <a:p>
          <a:r>
            <a:rPr lang="en-US" dirty="0"/>
            <a:t>Appliance-wise breakdown.</a:t>
          </a:r>
        </a:p>
      </dgm:t>
    </dgm:pt>
    <dgm:pt modelId="{C2A5CCE3-710A-4539-8241-DAD929AA494B}" type="parTrans" cxnId="{05764A53-50AA-46B5-8CA8-FB6EC9AD226B}">
      <dgm:prSet/>
      <dgm:spPr/>
      <dgm:t>
        <a:bodyPr/>
        <a:lstStyle/>
        <a:p>
          <a:endParaRPr lang="en-US"/>
        </a:p>
      </dgm:t>
    </dgm:pt>
    <dgm:pt modelId="{0D5837CC-960E-4BAF-BE54-E84C955C0303}" type="sibTrans" cxnId="{05764A53-50AA-46B5-8CA8-FB6EC9AD226B}">
      <dgm:prSet/>
      <dgm:spPr/>
      <dgm:t>
        <a:bodyPr/>
        <a:lstStyle/>
        <a:p>
          <a:endParaRPr lang="en-US"/>
        </a:p>
      </dgm:t>
    </dgm:pt>
    <dgm:pt modelId="{4109EF7B-057F-492A-9DE8-B77CC7D4C941}">
      <dgm:prSet phldrT="[Text]"/>
      <dgm:spPr/>
      <dgm:t>
        <a:bodyPr/>
        <a:lstStyle/>
        <a:p>
          <a:r>
            <a:rPr lang="en-US" dirty="0"/>
            <a:t>Web-based interface for user interaction.</a:t>
          </a:r>
        </a:p>
      </dgm:t>
    </dgm:pt>
    <dgm:pt modelId="{1D004580-C330-4070-8A27-F1B5F9AE01E3}" type="parTrans" cxnId="{637E0F36-109D-4302-B498-84C4DBCAA1CF}">
      <dgm:prSet/>
      <dgm:spPr/>
      <dgm:t>
        <a:bodyPr/>
        <a:lstStyle/>
        <a:p>
          <a:endParaRPr lang="en-US"/>
        </a:p>
      </dgm:t>
    </dgm:pt>
    <dgm:pt modelId="{9C6B66B6-4144-4C61-9C27-2A7BC0E48F3D}" type="sibTrans" cxnId="{637E0F36-109D-4302-B498-84C4DBCAA1CF}">
      <dgm:prSet/>
      <dgm:spPr/>
      <dgm:t>
        <a:bodyPr/>
        <a:lstStyle/>
        <a:p>
          <a:endParaRPr lang="en-US"/>
        </a:p>
      </dgm:t>
    </dgm:pt>
    <dgm:pt modelId="{A4655F1D-1256-4B6B-AE32-C9A432494EE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Real-time and historical analysis.</a:t>
          </a:r>
        </a:p>
      </dgm:t>
    </dgm:pt>
    <dgm:pt modelId="{7DBA9712-9FBB-49E0-8F57-B28D6D63BCA4}" type="parTrans" cxnId="{4FA3F08E-F4FB-4ADE-91F4-AFA6929CFA8A}">
      <dgm:prSet/>
      <dgm:spPr/>
      <dgm:t>
        <a:bodyPr/>
        <a:lstStyle/>
        <a:p>
          <a:endParaRPr lang="en-US"/>
        </a:p>
      </dgm:t>
    </dgm:pt>
    <dgm:pt modelId="{AA8F2AAA-2E20-4150-8BA4-6B396729BAD1}" type="sibTrans" cxnId="{4FA3F08E-F4FB-4ADE-91F4-AFA6929CFA8A}">
      <dgm:prSet/>
      <dgm:spPr/>
      <dgm:t>
        <a:bodyPr/>
        <a:lstStyle/>
        <a:p>
          <a:endParaRPr lang="en-US"/>
        </a:p>
      </dgm:t>
    </dgm:pt>
    <dgm:pt modelId="{625A8D34-B543-4D93-A4D3-E107BD3E2822}" type="pres">
      <dgm:prSet presAssocID="{BC40F586-CD96-433F-BB3F-81087A8B4F78}" presName="rootnode" presStyleCnt="0">
        <dgm:presLayoutVars>
          <dgm:chMax/>
          <dgm:chPref/>
          <dgm:dir/>
          <dgm:animLvl val="lvl"/>
        </dgm:presLayoutVars>
      </dgm:prSet>
      <dgm:spPr/>
    </dgm:pt>
    <dgm:pt modelId="{BC08D5D4-E196-414E-A825-0C63E5BC6793}" type="pres">
      <dgm:prSet presAssocID="{FF91F173-1B4D-444C-9865-67CD25ED4924}" presName="composite" presStyleCnt="0"/>
      <dgm:spPr/>
    </dgm:pt>
    <dgm:pt modelId="{69A996A9-7C23-4775-888A-2B2ED7EAA57F}" type="pres">
      <dgm:prSet presAssocID="{FF91F173-1B4D-444C-9865-67CD25ED4924}" presName="LShape" presStyleLbl="alignNode1" presStyleIdx="0" presStyleCnt="5"/>
      <dgm:spPr/>
    </dgm:pt>
    <dgm:pt modelId="{5525FEED-3258-4B44-85D6-142CD04E78FF}" type="pres">
      <dgm:prSet presAssocID="{FF91F173-1B4D-444C-9865-67CD25ED4924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F2245255-4DF3-44DF-A6C8-4C9D8E821B17}" type="pres">
      <dgm:prSet presAssocID="{FF91F173-1B4D-444C-9865-67CD25ED4924}" presName="Triangle" presStyleLbl="alignNode1" presStyleIdx="1" presStyleCnt="5"/>
      <dgm:spPr/>
    </dgm:pt>
    <dgm:pt modelId="{F33A4C6E-3C1A-4E70-952A-55106C30C2EB}" type="pres">
      <dgm:prSet presAssocID="{0D5837CC-960E-4BAF-BE54-E84C955C0303}" presName="sibTrans" presStyleCnt="0"/>
      <dgm:spPr/>
    </dgm:pt>
    <dgm:pt modelId="{9428883B-5F7B-42FF-94C3-81DA32DFFC6A}" type="pres">
      <dgm:prSet presAssocID="{0D5837CC-960E-4BAF-BE54-E84C955C0303}" presName="space" presStyleCnt="0"/>
      <dgm:spPr/>
    </dgm:pt>
    <dgm:pt modelId="{6BB3D4AA-B47F-4880-B8F3-2928A41953EF}" type="pres">
      <dgm:prSet presAssocID="{4109EF7B-057F-492A-9DE8-B77CC7D4C941}" presName="composite" presStyleCnt="0"/>
      <dgm:spPr/>
    </dgm:pt>
    <dgm:pt modelId="{C1EF83D8-DA8B-4931-A474-3E408C4D74AC}" type="pres">
      <dgm:prSet presAssocID="{4109EF7B-057F-492A-9DE8-B77CC7D4C941}" presName="LShape" presStyleLbl="alignNode1" presStyleIdx="2" presStyleCnt="5"/>
      <dgm:spPr/>
    </dgm:pt>
    <dgm:pt modelId="{8C3EC3CE-352D-41A6-AC17-0EE2CA1FCA03}" type="pres">
      <dgm:prSet presAssocID="{4109EF7B-057F-492A-9DE8-B77CC7D4C941}" presName="ParentText" presStyleLbl="revTx" presStyleIdx="1" presStyleCnt="3" custScaleX="102496" custScaleY="59439" custLinFactNeighborX="8435" custLinFactNeighborY="-9248">
        <dgm:presLayoutVars>
          <dgm:chMax val="0"/>
          <dgm:chPref val="0"/>
          <dgm:bulletEnabled val="1"/>
        </dgm:presLayoutVars>
      </dgm:prSet>
      <dgm:spPr/>
    </dgm:pt>
    <dgm:pt modelId="{CAAE9049-7709-4287-80E1-B2220AF86E86}" type="pres">
      <dgm:prSet presAssocID="{4109EF7B-057F-492A-9DE8-B77CC7D4C941}" presName="Triangle" presStyleLbl="alignNode1" presStyleIdx="3" presStyleCnt="5"/>
      <dgm:spPr/>
    </dgm:pt>
    <dgm:pt modelId="{43A93EFB-B845-42DA-82B8-1654EE4D1339}" type="pres">
      <dgm:prSet presAssocID="{9C6B66B6-4144-4C61-9C27-2A7BC0E48F3D}" presName="sibTrans" presStyleCnt="0"/>
      <dgm:spPr/>
    </dgm:pt>
    <dgm:pt modelId="{2A58AEF7-D439-45EB-BDCF-14DC70BB0F0A}" type="pres">
      <dgm:prSet presAssocID="{9C6B66B6-4144-4C61-9C27-2A7BC0E48F3D}" presName="space" presStyleCnt="0"/>
      <dgm:spPr/>
    </dgm:pt>
    <dgm:pt modelId="{F74C67D3-A081-4999-AF62-5ACE98701099}" type="pres">
      <dgm:prSet presAssocID="{A4655F1D-1256-4B6B-AE32-C9A432494EE4}" presName="composite" presStyleCnt="0"/>
      <dgm:spPr/>
    </dgm:pt>
    <dgm:pt modelId="{EB75B781-BC62-4B5F-8AEF-3ADCBC82D9CA}" type="pres">
      <dgm:prSet presAssocID="{A4655F1D-1256-4B6B-AE32-C9A432494EE4}" presName="LShape" presStyleLbl="alignNode1" presStyleIdx="4" presStyleCnt="5"/>
      <dgm:spPr/>
    </dgm:pt>
    <dgm:pt modelId="{3B5BEF80-AF9A-43B1-8F3D-40D026371539}" type="pres">
      <dgm:prSet presAssocID="{A4655F1D-1256-4B6B-AE32-C9A432494EE4}" presName="ParentText" presStyleLbl="revTx" presStyleIdx="2" presStyleCnt="3" custScaleY="68702" custLinFactNeighborX="7131" custLinFactNeighborY="-8074">
        <dgm:presLayoutVars>
          <dgm:chMax val="0"/>
          <dgm:chPref val="0"/>
          <dgm:bulletEnabled val="1"/>
        </dgm:presLayoutVars>
      </dgm:prSet>
      <dgm:spPr/>
    </dgm:pt>
  </dgm:ptLst>
  <dgm:cxnLst>
    <dgm:cxn modelId="{7318EA20-7F9D-4D68-8CC1-0E8981EAAEF2}" type="presOf" srcId="{BC40F586-CD96-433F-BB3F-81087A8B4F78}" destId="{625A8D34-B543-4D93-A4D3-E107BD3E2822}" srcOrd="0" destOrd="0" presId="urn:microsoft.com/office/officeart/2009/3/layout/StepUpProcess"/>
    <dgm:cxn modelId="{637E0F36-109D-4302-B498-84C4DBCAA1CF}" srcId="{BC40F586-CD96-433F-BB3F-81087A8B4F78}" destId="{4109EF7B-057F-492A-9DE8-B77CC7D4C941}" srcOrd="1" destOrd="0" parTransId="{1D004580-C330-4070-8A27-F1B5F9AE01E3}" sibTransId="{9C6B66B6-4144-4C61-9C27-2A7BC0E48F3D}"/>
    <dgm:cxn modelId="{91F2936D-8377-44CC-BE32-C66979D69740}" type="presOf" srcId="{4109EF7B-057F-492A-9DE8-B77CC7D4C941}" destId="{8C3EC3CE-352D-41A6-AC17-0EE2CA1FCA03}" srcOrd="0" destOrd="0" presId="urn:microsoft.com/office/officeart/2009/3/layout/StepUpProcess"/>
    <dgm:cxn modelId="{05764A53-50AA-46B5-8CA8-FB6EC9AD226B}" srcId="{BC40F586-CD96-433F-BB3F-81087A8B4F78}" destId="{FF91F173-1B4D-444C-9865-67CD25ED4924}" srcOrd="0" destOrd="0" parTransId="{C2A5CCE3-710A-4539-8241-DAD929AA494B}" sibTransId="{0D5837CC-960E-4BAF-BE54-E84C955C0303}"/>
    <dgm:cxn modelId="{4FA3F08E-F4FB-4ADE-91F4-AFA6929CFA8A}" srcId="{BC40F586-CD96-433F-BB3F-81087A8B4F78}" destId="{A4655F1D-1256-4B6B-AE32-C9A432494EE4}" srcOrd="2" destOrd="0" parTransId="{7DBA9712-9FBB-49E0-8F57-B28D6D63BCA4}" sibTransId="{AA8F2AAA-2E20-4150-8BA4-6B396729BAD1}"/>
    <dgm:cxn modelId="{602956C9-7B0A-4E19-AA09-4111E435261F}" type="presOf" srcId="{FF91F173-1B4D-444C-9865-67CD25ED4924}" destId="{5525FEED-3258-4B44-85D6-142CD04E78FF}" srcOrd="0" destOrd="0" presId="urn:microsoft.com/office/officeart/2009/3/layout/StepUpProcess"/>
    <dgm:cxn modelId="{0F5B03D9-6177-4C1D-971C-1DE57D68174F}" type="presOf" srcId="{A4655F1D-1256-4B6B-AE32-C9A432494EE4}" destId="{3B5BEF80-AF9A-43B1-8F3D-40D026371539}" srcOrd="0" destOrd="0" presId="urn:microsoft.com/office/officeart/2009/3/layout/StepUpProcess"/>
    <dgm:cxn modelId="{C840D8DD-366E-42BA-A4AC-77660DDB0DDB}" type="presParOf" srcId="{625A8D34-B543-4D93-A4D3-E107BD3E2822}" destId="{BC08D5D4-E196-414E-A825-0C63E5BC6793}" srcOrd="0" destOrd="0" presId="urn:microsoft.com/office/officeart/2009/3/layout/StepUpProcess"/>
    <dgm:cxn modelId="{C6574AAF-A4EC-4B59-9290-06EA348F3B61}" type="presParOf" srcId="{BC08D5D4-E196-414E-A825-0C63E5BC6793}" destId="{69A996A9-7C23-4775-888A-2B2ED7EAA57F}" srcOrd="0" destOrd="0" presId="urn:microsoft.com/office/officeart/2009/3/layout/StepUpProcess"/>
    <dgm:cxn modelId="{4367A601-49C3-4C47-A0B9-736DA03DEE68}" type="presParOf" srcId="{BC08D5D4-E196-414E-A825-0C63E5BC6793}" destId="{5525FEED-3258-4B44-85D6-142CD04E78FF}" srcOrd="1" destOrd="0" presId="urn:microsoft.com/office/officeart/2009/3/layout/StepUpProcess"/>
    <dgm:cxn modelId="{70D29204-BC89-4972-AE2B-29CF5C995551}" type="presParOf" srcId="{BC08D5D4-E196-414E-A825-0C63E5BC6793}" destId="{F2245255-4DF3-44DF-A6C8-4C9D8E821B17}" srcOrd="2" destOrd="0" presId="urn:microsoft.com/office/officeart/2009/3/layout/StepUpProcess"/>
    <dgm:cxn modelId="{9A23764A-F931-4C08-B6BF-DE074D2F35B6}" type="presParOf" srcId="{625A8D34-B543-4D93-A4D3-E107BD3E2822}" destId="{F33A4C6E-3C1A-4E70-952A-55106C30C2EB}" srcOrd="1" destOrd="0" presId="urn:microsoft.com/office/officeart/2009/3/layout/StepUpProcess"/>
    <dgm:cxn modelId="{0D6C1042-BF7E-4270-B3B8-9EE0940C4548}" type="presParOf" srcId="{F33A4C6E-3C1A-4E70-952A-55106C30C2EB}" destId="{9428883B-5F7B-42FF-94C3-81DA32DFFC6A}" srcOrd="0" destOrd="0" presId="urn:microsoft.com/office/officeart/2009/3/layout/StepUpProcess"/>
    <dgm:cxn modelId="{FEBD415F-44D7-4B05-90B9-C8ACF5F2797C}" type="presParOf" srcId="{625A8D34-B543-4D93-A4D3-E107BD3E2822}" destId="{6BB3D4AA-B47F-4880-B8F3-2928A41953EF}" srcOrd="2" destOrd="0" presId="urn:microsoft.com/office/officeart/2009/3/layout/StepUpProcess"/>
    <dgm:cxn modelId="{54214B56-AE8F-4E62-9C18-A1753A68A379}" type="presParOf" srcId="{6BB3D4AA-B47F-4880-B8F3-2928A41953EF}" destId="{C1EF83D8-DA8B-4931-A474-3E408C4D74AC}" srcOrd="0" destOrd="0" presId="urn:microsoft.com/office/officeart/2009/3/layout/StepUpProcess"/>
    <dgm:cxn modelId="{8512F3EC-A144-4DCA-93C6-D037B3E658E7}" type="presParOf" srcId="{6BB3D4AA-B47F-4880-B8F3-2928A41953EF}" destId="{8C3EC3CE-352D-41A6-AC17-0EE2CA1FCA03}" srcOrd="1" destOrd="0" presId="urn:microsoft.com/office/officeart/2009/3/layout/StepUpProcess"/>
    <dgm:cxn modelId="{F196D0DB-BC45-45B1-81F6-806B7AB835F0}" type="presParOf" srcId="{6BB3D4AA-B47F-4880-B8F3-2928A41953EF}" destId="{CAAE9049-7709-4287-80E1-B2220AF86E86}" srcOrd="2" destOrd="0" presId="urn:microsoft.com/office/officeart/2009/3/layout/StepUpProcess"/>
    <dgm:cxn modelId="{9CFCF938-2F40-4041-8992-474134F3F18E}" type="presParOf" srcId="{625A8D34-B543-4D93-A4D3-E107BD3E2822}" destId="{43A93EFB-B845-42DA-82B8-1654EE4D1339}" srcOrd="3" destOrd="0" presId="urn:microsoft.com/office/officeart/2009/3/layout/StepUpProcess"/>
    <dgm:cxn modelId="{A2EBF9B1-EECB-4527-9372-B53A65804781}" type="presParOf" srcId="{43A93EFB-B845-42DA-82B8-1654EE4D1339}" destId="{2A58AEF7-D439-45EB-BDCF-14DC70BB0F0A}" srcOrd="0" destOrd="0" presId="urn:microsoft.com/office/officeart/2009/3/layout/StepUpProcess"/>
    <dgm:cxn modelId="{36ECF7B1-222A-4848-9931-0443911C9335}" type="presParOf" srcId="{625A8D34-B543-4D93-A4D3-E107BD3E2822}" destId="{F74C67D3-A081-4999-AF62-5ACE98701099}" srcOrd="4" destOrd="0" presId="urn:microsoft.com/office/officeart/2009/3/layout/StepUpProcess"/>
    <dgm:cxn modelId="{17979966-CDB1-45AB-B2FA-6532BA77EF5C}" type="presParOf" srcId="{F74C67D3-A081-4999-AF62-5ACE98701099}" destId="{EB75B781-BC62-4B5F-8AEF-3ADCBC82D9CA}" srcOrd="0" destOrd="0" presId="urn:microsoft.com/office/officeart/2009/3/layout/StepUpProcess"/>
    <dgm:cxn modelId="{58A2C9D6-BE9A-4589-827F-5D652E94C340}" type="presParOf" srcId="{F74C67D3-A081-4999-AF62-5ACE98701099}" destId="{3B5BEF80-AF9A-43B1-8F3D-40D026371539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A996A9-7C23-4775-888A-2B2ED7EAA57F}">
      <dsp:nvSpPr>
        <dsp:cNvPr id="0" name=""/>
        <dsp:cNvSpPr/>
      </dsp:nvSpPr>
      <dsp:spPr>
        <a:xfrm rot="5400000">
          <a:off x="320217" y="1446328"/>
          <a:ext cx="956614" cy="1591785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25FEED-3258-4B44-85D6-142CD04E78FF}">
      <dsp:nvSpPr>
        <dsp:cNvPr id="0" name=""/>
        <dsp:cNvSpPr/>
      </dsp:nvSpPr>
      <dsp:spPr>
        <a:xfrm>
          <a:off x="160534" y="1921929"/>
          <a:ext cx="1437073" cy="1259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Appliance-wise breakdown.</a:t>
          </a:r>
        </a:p>
      </dsp:txBody>
      <dsp:txXfrm>
        <a:off x="160534" y="1921929"/>
        <a:ext cx="1437073" cy="1259678"/>
      </dsp:txXfrm>
    </dsp:sp>
    <dsp:sp modelId="{F2245255-4DF3-44DF-A6C8-4C9D8E821B17}">
      <dsp:nvSpPr>
        <dsp:cNvPr id="0" name=""/>
        <dsp:cNvSpPr/>
      </dsp:nvSpPr>
      <dsp:spPr>
        <a:xfrm>
          <a:off x="1326461" y="1329139"/>
          <a:ext cx="271145" cy="27114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EF83D8-DA8B-4931-A474-3E408C4D74AC}">
      <dsp:nvSpPr>
        <dsp:cNvPr id="0" name=""/>
        <dsp:cNvSpPr/>
      </dsp:nvSpPr>
      <dsp:spPr>
        <a:xfrm rot="5400000">
          <a:off x="2079475" y="1266467"/>
          <a:ext cx="956614" cy="1591785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3EC3CE-352D-41A6-AC17-0EE2CA1FCA03}">
      <dsp:nvSpPr>
        <dsp:cNvPr id="0" name=""/>
        <dsp:cNvSpPr/>
      </dsp:nvSpPr>
      <dsp:spPr>
        <a:xfrm>
          <a:off x="2023075" y="1881042"/>
          <a:ext cx="1472942" cy="7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Web-based interface for user interaction.</a:t>
          </a:r>
        </a:p>
      </dsp:txBody>
      <dsp:txXfrm>
        <a:off x="2023075" y="1881042"/>
        <a:ext cx="1472942" cy="748740"/>
      </dsp:txXfrm>
    </dsp:sp>
    <dsp:sp modelId="{CAAE9049-7709-4287-80E1-B2220AF86E86}">
      <dsp:nvSpPr>
        <dsp:cNvPr id="0" name=""/>
        <dsp:cNvSpPr/>
      </dsp:nvSpPr>
      <dsp:spPr>
        <a:xfrm>
          <a:off x="3085719" y="1149278"/>
          <a:ext cx="271145" cy="27114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75B781-BC62-4B5F-8AEF-3ADCBC82D9CA}">
      <dsp:nvSpPr>
        <dsp:cNvPr id="0" name=""/>
        <dsp:cNvSpPr/>
      </dsp:nvSpPr>
      <dsp:spPr>
        <a:xfrm rot="5400000">
          <a:off x="3838733" y="1028264"/>
          <a:ext cx="956614" cy="1591785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BEF80-AF9A-43B1-8F3D-40D026371539}">
      <dsp:nvSpPr>
        <dsp:cNvPr id="0" name=""/>
        <dsp:cNvSpPr/>
      </dsp:nvSpPr>
      <dsp:spPr>
        <a:xfrm>
          <a:off x="3681682" y="1599285"/>
          <a:ext cx="1437073" cy="865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Real-time and historical analysis.</a:t>
          </a:r>
        </a:p>
      </dsp:txBody>
      <dsp:txXfrm>
        <a:off x="3681682" y="1599285"/>
        <a:ext cx="1437073" cy="8654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1AD051-A471-BD83-D56B-099B74C6DC1D}"/>
              </a:ext>
            </a:extLst>
          </p:cNvPr>
          <p:cNvSpPr txBox="1"/>
          <p:nvPr userDrawn="1"/>
        </p:nvSpPr>
        <p:spPr>
          <a:xfrm>
            <a:off x="6150328" y="1635407"/>
            <a:ext cx="5982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04B6FD-65BD-1992-B8BC-180D4237329E}"/>
              </a:ext>
            </a:extLst>
          </p:cNvPr>
          <p:cNvSpPr txBox="1"/>
          <p:nvPr userDrawn="1"/>
        </p:nvSpPr>
        <p:spPr>
          <a:xfrm>
            <a:off x="0" y="960582"/>
            <a:ext cx="9141619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255687-52AC-452A-4201-654EC12B9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475"/>
          <a:stretch/>
        </p:blipFill>
        <p:spPr>
          <a:xfrm>
            <a:off x="1597892" y="-1"/>
            <a:ext cx="5808748" cy="7897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70F189-7EEE-87CF-9014-5C83F4C28408}"/>
              </a:ext>
            </a:extLst>
          </p:cNvPr>
          <p:cNvSpPr txBox="1"/>
          <p:nvPr userDrawn="1"/>
        </p:nvSpPr>
        <p:spPr>
          <a:xfrm>
            <a:off x="581891" y="2374525"/>
            <a:ext cx="30673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/>
              <a:t>Project</a:t>
            </a:r>
            <a:r>
              <a:rPr lang="en-US" baseline="0" dirty="0"/>
              <a:t> Title</a:t>
            </a:r>
            <a:r>
              <a:rPr lang="en-US" dirty="0"/>
              <a:t>: 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Branch / Year:</a:t>
            </a:r>
          </a:p>
          <a:p>
            <a:pPr lvl="0">
              <a:lnSpc>
                <a:spcPct val="150000"/>
              </a:lnSpc>
            </a:pPr>
            <a:r>
              <a:rPr lang="en-US" baseline="0" dirty="0"/>
              <a:t>Name 1/Enrollment number </a:t>
            </a:r>
            <a:r>
              <a:rPr lang="en-US" dirty="0"/>
              <a:t>:</a:t>
            </a:r>
          </a:p>
          <a:p>
            <a:pPr lvl="0">
              <a:lnSpc>
                <a:spcPct val="150000"/>
              </a:lnSpc>
            </a:pPr>
            <a:r>
              <a:rPr lang="en-US" baseline="0" dirty="0"/>
              <a:t>Name 2/Enrollment number </a:t>
            </a:r>
            <a:r>
              <a:rPr lang="en-US" dirty="0"/>
              <a:t>:</a:t>
            </a:r>
          </a:p>
          <a:p>
            <a:pPr lvl="0">
              <a:lnSpc>
                <a:spcPct val="150000"/>
              </a:lnSpc>
            </a:pPr>
            <a:r>
              <a:rPr lang="en-US" baseline="0" dirty="0"/>
              <a:t>Name 3/Enrollment number </a:t>
            </a:r>
            <a:r>
              <a:rPr lang="en-US" dirty="0"/>
              <a:t>:</a:t>
            </a:r>
          </a:p>
          <a:p>
            <a:pPr lvl="0">
              <a:lnSpc>
                <a:spcPct val="150000"/>
              </a:lnSpc>
            </a:pPr>
            <a:r>
              <a:rPr lang="en-US" baseline="0" dirty="0"/>
              <a:t>Name 4/Enrollment number 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93537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1AD051-A471-BD83-D56B-099B74C6DC1D}"/>
              </a:ext>
            </a:extLst>
          </p:cNvPr>
          <p:cNvSpPr txBox="1"/>
          <p:nvPr userDrawn="1"/>
        </p:nvSpPr>
        <p:spPr>
          <a:xfrm>
            <a:off x="6150328" y="1635407"/>
            <a:ext cx="5982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7D4173-00E4-ED90-6772-5DEBFAC2D9A2}"/>
              </a:ext>
            </a:extLst>
          </p:cNvPr>
          <p:cNvSpPr txBox="1"/>
          <p:nvPr userDrawn="1"/>
        </p:nvSpPr>
        <p:spPr>
          <a:xfrm>
            <a:off x="352425" y="1704975"/>
            <a:ext cx="602931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Introduction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Methodology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Result and Discussions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Conclusion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References  </a:t>
            </a:r>
            <a:r>
              <a:rPr lang="en-IN" sz="18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etc</a:t>
            </a: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 you can edit topic as per your requirements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04B6FD-65BD-1992-B8BC-180D4237329E}"/>
              </a:ext>
            </a:extLst>
          </p:cNvPr>
          <p:cNvSpPr txBox="1"/>
          <p:nvPr userDrawn="1"/>
        </p:nvSpPr>
        <p:spPr>
          <a:xfrm>
            <a:off x="0" y="960582"/>
            <a:ext cx="9141619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CONTENTS: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255687-52AC-452A-4201-654EC12B9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475"/>
          <a:stretch/>
        </p:blipFill>
        <p:spPr>
          <a:xfrm>
            <a:off x="1597892" y="-1"/>
            <a:ext cx="5808748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430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7320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1AD051-A471-BD83-D56B-099B74C6DC1D}"/>
              </a:ext>
            </a:extLst>
          </p:cNvPr>
          <p:cNvSpPr txBox="1"/>
          <p:nvPr userDrawn="1"/>
        </p:nvSpPr>
        <p:spPr>
          <a:xfrm>
            <a:off x="5939082" y="1659638"/>
            <a:ext cx="5982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37DAA-0A24-7FE5-0148-35C96F841CA9}"/>
              </a:ext>
            </a:extLst>
          </p:cNvPr>
          <p:cNvSpPr txBox="1"/>
          <p:nvPr userDrawn="1"/>
        </p:nvSpPr>
        <p:spPr>
          <a:xfrm>
            <a:off x="915324" y="1543296"/>
            <a:ext cx="67577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Font Style and Size:</a:t>
            </a:r>
            <a:endParaRPr lang="en-US" b="0" dirty="0">
              <a:solidFill>
                <a:schemeClr val="accent1">
                  <a:lumMod val="50000"/>
                </a:schemeClr>
              </a:solidFill>
              <a:effectLst/>
              <a:latin typeface="+mn-lt"/>
            </a:endParaRP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Titles: 28-36 pts.</a:t>
            </a: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Subtitles/Body Text: 18-24 pts.</a:t>
            </a: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Use font Calibri or Times New Roman for readability.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Color Scheme:</a:t>
            </a:r>
            <a:endParaRPr lang="en-US" b="0" dirty="0">
              <a:solidFill>
                <a:schemeClr val="accent1">
                  <a:lumMod val="50000"/>
                </a:schemeClr>
              </a:solidFill>
              <a:effectLst/>
              <a:latin typeface="+mn-lt"/>
            </a:endParaRP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Use 2-3 colors for consistency</a:t>
            </a: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Ensure text contrasts with the background for visibility.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Alignment and Spacing:</a:t>
            </a:r>
            <a:endParaRPr lang="en-US" b="0" dirty="0">
              <a:solidFill>
                <a:schemeClr val="accent1">
                  <a:lumMod val="50000"/>
                </a:schemeClr>
              </a:solidFill>
              <a:effectLst/>
              <a:latin typeface="+mn-lt"/>
            </a:endParaRP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Align text and visuals for a neat appearance.</a:t>
            </a: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Use white space to avoid clutter.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Slides and Presentation time: </a:t>
            </a:r>
            <a:endParaRPr lang="en-US" b="0" dirty="0">
              <a:solidFill>
                <a:schemeClr val="accent1">
                  <a:lumMod val="50000"/>
                </a:schemeClr>
              </a:solidFill>
              <a:effectLst/>
              <a:latin typeface="+mn-lt"/>
            </a:endParaRPr>
          </a:p>
          <a:p>
            <a:pPr marL="60007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Maximum 15 slides excluding first two slides.</a:t>
            </a:r>
          </a:p>
          <a:p>
            <a:pPr marL="60007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10 minutes max, including Q/A.</a:t>
            </a:r>
          </a:p>
          <a:p>
            <a:endParaRPr lang="en-IN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F938519-1AF3-B956-9F53-041CB18C0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849313"/>
            <a:ext cx="9142413" cy="34217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INTRODUCTION :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535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1AD051-A471-BD83-D56B-099B74C6DC1D}"/>
              </a:ext>
            </a:extLst>
          </p:cNvPr>
          <p:cNvSpPr txBox="1"/>
          <p:nvPr userDrawn="1"/>
        </p:nvSpPr>
        <p:spPr>
          <a:xfrm>
            <a:off x="6150328" y="1635407"/>
            <a:ext cx="5982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0C5E1B-BB9B-8215-E12B-A8D6C18F43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81" y="875259"/>
            <a:ext cx="9141619" cy="382316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8DFBF5E-8C9F-42A9-01EA-DE06B88D8F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692" y="1560867"/>
            <a:ext cx="6678035" cy="40395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292895-D6BD-64FB-AB99-505A04C68A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2578"/>
          <a:stretch/>
        </p:blipFill>
        <p:spPr>
          <a:xfrm>
            <a:off x="1812174" y="0"/>
            <a:ext cx="5484551" cy="72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40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04B6FD-65BD-1992-B8BC-180D4237329E}"/>
              </a:ext>
            </a:extLst>
          </p:cNvPr>
          <p:cNvSpPr txBox="1"/>
          <p:nvPr userDrawn="1"/>
        </p:nvSpPr>
        <p:spPr>
          <a:xfrm>
            <a:off x="0" y="960582"/>
            <a:ext cx="9141619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255687-52AC-452A-4201-654EC12B9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r="39475"/>
          <a:stretch/>
        </p:blipFill>
        <p:spPr>
          <a:xfrm>
            <a:off x="1597892" y="-1"/>
            <a:ext cx="5808748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46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9" r:id="rId2"/>
    <p:sldLayoutId id="2147483687" r:id="rId3"/>
    <p:sldLayoutId id="2147483688" r:id="rId4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56CBAC-5F88-4D0C-A7D5-C6EF0F1A4E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81" y="875259"/>
            <a:ext cx="9141619" cy="38231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Electricity Monitoring System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C736E-2FAD-45FB-A329-CC746DFC6B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692" y="1838228"/>
            <a:ext cx="6678035" cy="3959257"/>
          </a:xfr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anchor="ctr"/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AI Based Electricity Monitoring System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 IT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Leader: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Reeta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Koranga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(0818IT221055)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1: Prince Rai (0818IT221049)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2: Chandan Patidar (0818IT221019)</a:t>
            </a: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3: Aashi Pandey (0818IT221003)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9265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1CC0F0-5EDD-4762-84F4-BC7DC52912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75259"/>
            <a:ext cx="9141619" cy="382316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Electricity Monitoring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31C6B-6D05-4665-A18E-25CA03D93A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692" y="1560867"/>
            <a:ext cx="7026445" cy="4123496"/>
          </a:xfrm>
        </p:spPr>
        <p:txBody>
          <a:bodyPr/>
          <a:lstStyle/>
          <a:p>
            <a:pPr marL="0" indent="0">
              <a:buNone/>
            </a:pPr>
            <a:r>
              <a:rPr lang="en-US" sz="30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energy consumption challenges.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Growing demand for smart energy solutions.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Brief overview of AI's potential in energy management.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 of the project: real-time monitoring, prediction, and suggestion for savings.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334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B26B5E-6C4C-4407-9813-3727D9A5CF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Electricity Monitoring System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71DE-2CBC-4891-8455-0EAB7D4D007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692" y="1560867"/>
            <a:ext cx="4528343" cy="4421874"/>
          </a:xfrm>
        </p:spPr>
        <p:txBody>
          <a:bodyPr/>
          <a:lstStyle/>
          <a:p>
            <a:pPr>
              <a:buClr>
                <a:srgbClr val="E48312"/>
              </a:buClr>
            </a:pPr>
            <a:r>
              <a:rPr lang="en-US" sz="3000" b="1" i="1" u="sng" dirty="0">
                <a:solidFill>
                  <a:srgbClr val="E483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energy systems lack intelligence.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unaware of high consumption points.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Wastage due to inefficient use of appliances.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personalized insights for energy saving.</a:t>
            </a:r>
          </a:p>
          <a:p>
            <a:endParaRPr lang="en-US" b="1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008A9A5-F292-4D9A-907B-26EA8BD49C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606345"/>
              </p:ext>
            </p:extLst>
          </p:nvPr>
        </p:nvGraphicFramePr>
        <p:xfrm>
          <a:off x="5241303" y="1739804"/>
          <a:ext cx="349106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68591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CFD278-0E21-4FF3-BB08-A274557A14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Electricity Monitoring System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914C1-DA97-4872-A06B-072D359290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692" y="1560867"/>
            <a:ext cx="3406553" cy="4330886"/>
          </a:xfrm>
        </p:spPr>
        <p:txBody>
          <a:bodyPr/>
          <a:lstStyle/>
          <a:p>
            <a:pPr lvl="0">
              <a:buClr>
                <a:srgbClr val="E48312"/>
              </a:buClr>
            </a:pPr>
            <a:r>
              <a:rPr lang="en-US" sz="3000" b="1" i="1" u="sng" dirty="0">
                <a:solidFill>
                  <a:srgbClr val="E483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lvl="0">
              <a:buClr>
                <a:srgbClr val="E48312"/>
              </a:buClr>
            </a:pPr>
            <a:endParaRPr lang="en-US" sz="3000" b="1" i="1" u="sng" dirty="0">
              <a:solidFill>
                <a:srgbClr val="E483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appliance-level energy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 future usage based on historical patterns.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 optimizations using AI algorithms.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users reduce bills and carbon footprint.</a:t>
            </a:r>
          </a:p>
          <a:p>
            <a:endParaRPr lang="en-US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A83EF179-F40F-4013-828A-391B5DFF38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6148923"/>
              </p:ext>
            </p:extLst>
          </p:nvPr>
        </p:nvGraphicFramePr>
        <p:xfrm>
          <a:off x="4025244" y="1397000"/>
          <a:ext cx="5118756" cy="4330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2060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14AE6C-11ED-434F-9414-408813350C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Electricity Monitoring System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AD6CF-02C8-4726-8EB7-D71FCAE2B64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 algn="ctr">
              <a:buClr>
                <a:srgbClr val="E48312"/>
              </a:buClr>
            </a:pPr>
            <a:r>
              <a:rPr lang="en-US" sz="3000" b="1" i="1" u="sng" dirty="0">
                <a:solidFill>
                  <a:srgbClr val="E483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vs Proposed System</a:t>
            </a:r>
          </a:p>
          <a:p>
            <a:pPr lvl="0" algn="ctr">
              <a:buClr>
                <a:srgbClr val="E48312"/>
              </a:buClr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2A0220-2B85-466A-9E8C-A9AE7A29E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793368"/>
              </p:ext>
            </p:extLst>
          </p:nvPr>
        </p:nvGraphicFramePr>
        <p:xfrm>
          <a:off x="628650" y="2253005"/>
          <a:ext cx="8025156" cy="3271100"/>
        </p:xfrm>
        <a:graphic>
          <a:graphicData uri="http://schemas.openxmlformats.org/drawingml/2006/table">
            <a:tbl>
              <a:tblPr/>
              <a:tblGrid>
                <a:gridCol w="2675052">
                  <a:extLst>
                    <a:ext uri="{9D8B030D-6E8A-4147-A177-3AD203B41FA5}">
                      <a16:colId xmlns:a16="http://schemas.microsoft.com/office/drawing/2014/main" val="1854202132"/>
                    </a:ext>
                  </a:extLst>
                </a:gridCol>
                <a:gridCol w="2675052">
                  <a:extLst>
                    <a:ext uri="{9D8B030D-6E8A-4147-A177-3AD203B41FA5}">
                      <a16:colId xmlns:a16="http://schemas.microsoft.com/office/drawing/2014/main" val="3732979279"/>
                    </a:ext>
                  </a:extLst>
                </a:gridCol>
                <a:gridCol w="2675052">
                  <a:extLst>
                    <a:ext uri="{9D8B030D-6E8A-4147-A177-3AD203B41FA5}">
                      <a16:colId xmlns:a16="http://schemas.microsoft.com/office/drawing/2014/main" val="3774338959"/>
                    </a:ext>
                  </a:extLst>
                </a:gridCol>
              </a:tblGrid>
              <a:tr h="654220">
                <a:tc>
                  <a:txBody>
                    <a:bodyPr/>
                    <a:lstStyle/>
                    <a:p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Existing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Proposed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932960"/>
                  </a:ext>
                </a:extLst>
              </a:tr>
              <a:tr h="654220">
                <a:tc>
                  <a:txBody>
                    <a:bodyPr/>
                    <a:lstStyle/>
                    <a:p>
                      <a:r>
                        <a:rPr lang="en-US"/>
                        <a:t>Real-time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28764"/>
                  </a:ext>
                </a:extLst>
              </a:tr>
              <a:tr h="654220">
                <a:tc>
                  <a:txBody>
                    <a:bodyPr/>
                    <a:lstStyle/>
                    <a:p>
                      <a:r>
                        <a:rPr lang="en-US"/>
                        <a:t>AI Predictions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9999561"/>
                  </a:ext>
                </a:extLst>
              </a:tr>
              <a:tr h="654220">
                <a:tc>
                  <a:txBody>
                    <a:bodyPr/>
                    <a:lstStyle/>
                    <a:p>
                      <a:r>
                        <a:rPr lang="en-US"/>
                        <a:t>Appliance-level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Partially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Fully Integrated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892719"/>
                  </a:ext>
                </a:extLst>
              </a:tr>
              <a:tr h="654220">
                <a:tc>
                  <a:txBody>
                    <a:bodyPr/>
                    <a:lstStyle/>
                    <a:p>
                      <a:r>
                        <a:rPr lang="en-US"/>
                        <a:t>Suggestions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Personalized via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3129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395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7565D1-6D44-47F8-AC0B-19C83BFE92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Electricity Monitoring System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F182A-6773-4684-9B32-1ACA65695A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692" y="1560867"/>
            <a:ext cx="4877135" cy="4189484"/>
          </a:xfrm>
        </p:spPr>
        <p:txBody>
          <a:bodyPr/>
          <a:lstStyle/>
          <a:p>
            <a:pPr>
              <a:buClr>
                <a:srgbClr val="E48312"/>
              </a:buClr>
            </a:pPr>
            <a:r>
              <a:rPr lang="en-US" sz="3000" b="1" i="1" u="sng" dirty="0">
                <a:solidFill>
                  <a:srgbClr val="E483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Clr>
                <a:srgbClr val="E48312"/>
              </a:buClr>
            </a:pPr>
            <a:endParaRPr lang="en-US" sz="3000" b="1" i="1" u="sng" dirty="0">
              <a:solidFill>
                <a:srgbClr val="E483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Data collection from sensors.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Processing using AI algorithms.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Frontend: Web dashboard.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Backend: Django.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Visualization tools for insights.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F15D5B-CE11-4879-B846-C86DB111E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072" y="1257575"/>
            <a:ext cx="4192547" cy="503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421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FC83FC-8F1F-4579-A2F4-EBCE31137D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Electricity Monitoring System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CF631-9D43-4914-B018-0BB84A531D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01936" y="1409221"/>
            <a:ext cx="4242063" cy="4039558"/>
          </a:xfrm>
        </p:spPr>
        <p:txBody>
          <a:bodyPr/>
          <a:lstStyle/>
          <a:p>
            <a:pPr lvl="0">
              <a:buClr>
                <a:srgbClr val="E48312"/>
              </a:buClr>
            </a:pPr>
            <a:r>
              <a:rPr lang="en-US" sz="3000" b="1" i="1" u="sng" dirty="0">
                <a:solidFill>
                  <a:srgbClr val="E483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and Validation</a:t>
            </a:r>
          </a:p>
          <a:p>
            <a:pPr lvl="0">
              <a:buClr>
                <a:srgbClr val="E48312"/>
              </a:buClr>
            </a:pPr>
            <a:endParaRPr lang="en-US" sz="3000" b="1" i="1" u="sng" dirty="0">
              <a:solidFill>
                <a:srgbClr val="E483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Unit testing: Modules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Integration testing: Backend + Frontend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System testing: Overall workflow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Results: Accuracy of predictions, usability feedback</a:t>
            </a:r>
          </a:p>
          <a:p>
            <a:pPr lvl="0">
              <a:buClr>
                <a:srgbClr val="E48312"/>
              </a:buClr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4568DF-492B-40F2-AEDD-4878473AA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7574"/>
            <a:ext cx="4769963" cy="5096091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</p:spTree>
    <p:extLst>
      <p:ext uri="{BB962C8B-B14F-4D97-AF65-F5344CB8AC3E}">
        <p14:creationId xmlns:p14="http://schemas.microsoft.com/office/powerpoint/2010/main" val="4164880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E904EF-0B92-40AC-83F7-2C81083F85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68BB5-4F2E-49D0-9891-AD044C89413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>
              <a:buClr>
                <a:srgbClr val="E48312"/>
              </a:buClr>
            </a:pPr>
            <a:r>
              <a:rPr lang="en-US" sz="3000" b="1" i="1" u="sng" dirty="0">
                <a:solidFill>
                  <a:srgbClr val="E483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lvl="0">
              <a:buClr>
                <a:srgbClr val="E48312"/>
              </a:buClr>
            </a:pPr>
            <a:endParaRPr lang="en-US" sz="3000" b="1" i="1" u="sng" dirty="0">
              <a:solidFill>
                <a:srgbClr val="E483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Energy Reports, IEEE Papers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in Smart Homes, Elsevier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Django &amp; Machine Learning Tutorials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Appliance Load Datasets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14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AE568A-32A0-46DC-A366-73C532235A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 Based Electricity Monitoring System</a:t>
            </a:r>
          </a:p>
          <a:p>
            <a:pPr marL="0" indent="0">
              <a:buNone/>
            </a:pP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B5D18-76D2-4CB8-9427-8131DE6172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692" y="1560867"/>
            <a:ext cx="6678035" cy="4198910"/>
          </a:xfrm>
        </p:spPr>
        <p:txBody>
          <a:bodyPr/>
          <a:lstStyle/>
          <a:p>
            <a:pPr lvl="0">
              <a:buClr>
                <a:srgbClr val="E48312"/>
              </a:buClr>
            </a:pPr>
            <a:r>
              <a:rPr lang="en-US" sz="3000" b="1" i="1" u="sng" dirty="0">
                <a:solidFill>
                  <a:srgbClr val="E483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  <a:p>
            <a:pPr lvl="0">
              <a:buClr>
                <a:srgbClr val="E48312"/>
              </a:buClr>
            </a:pPr>
            <a:endParaRPr lang="en-US" sz="3000" b="1" i="1" u="sng" dirty="0">
              <a:solidFill>
                <a:srgbClr val="E483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Summary of benefits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tracking, AI forecasting, reduced wastage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Future: IoT integration, mobile app, solar compatibility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E48312"/>
              </a:buCl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29703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ET CONFERENCE TEMPLATE FINAL" id="{AA875BF6-8251-4ADA-A536-A465780F1DD2}" vid="{0F61B220-8AC9-489A-A914-A5D4B059586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230</TotalTime>
  <Words>350</Words>
  <Application>Microsoft Office PowerPoint</Application>
  <PresentationFormat>On-screen Show (4:3)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Wingdings</vt:lpstr>
      <vt:lpstr>Calibri</vt:lpstr>
      <vt:lpstr>Arial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Aashi Pandey</cp:lastModifiedBy>
  <cp:revision>13</cp:revision>
  <dcterms:created xsi:type="dcterms:W3CDTF">2025-02-28T07:30:56Z</dcterms:created>
  <dcterms:modified xsi:type="dcterms:W3CDTF">2025-05-28T07:56:36Z</dcterms:modified>
</cp:coreProperties>
</file>